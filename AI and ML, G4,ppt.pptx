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R² Score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5A7A6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4A9D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7A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SLR</c:v>
                </c:pt>
                <c:pt idx="1">
                  <c:v>MLR</c:v>
                </c:pt>
                <c:pt idx="2">
                  <c:v>DT</c:v>
                </c:pt>
                <c:pt idx="3">
                  <c:v>ANN</c:v>
                </c:pt>
                <c:pt idx="4">
                  <c:v>RF★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</c:v>
                </c:pt>
                <c:pt idx="1">
                  <c:v>0.88</c:v>
                </c:pt>
                <c:pt idx="2">
                  <c:v>0.82</c:v>
                </c:pt>
                <c:pt idx="3">
                  <c:v>0.91</c:v>
                </c:pt>
                <c:pt idx="4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C9-6A40-9CA8-436C38DE59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RMSE kg/ha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5A7A6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4A9D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7A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SLR</c:v>
                </c:pt>
                <c:pt idx="1">
                  <c:v>MLR</c:v>
                </c:pt>
                <c:pt idx="2">
                  <c:v>DT</c:v>
                </c:pt>
                <c:pt idx="3">
                  <c:v>ANN</c:v>
                </c:pt>
                <c:pt idx="4">
                  <c:v>RF★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273.5</c:v>
                </c:pt>
                <c:pt idx="1">
                  <c:v>228.9</c:v>
                </c:pt>
                <c:pt idx="2">
                  <c:v>251.4</c:v>
                </c:pt>
                <c:pt idx="3">
                  <c:v>219.3</c:v>
                </c:pt>
                <c:pt idx="4">
                  <c:v>195.3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E3-8B4C-A37E-5986B62847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MAE kg/ha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5A7A6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4A9D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7A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SLR</c:v>
                </c:pt>
                <c:pt idx="1">
                  <c:v>MLR</c:v>
                </c:pt>
                <c:pt idx="2">
                  <c:v>DT</c:v>
                </c:pt>
                <c:pt idx="3">
                  <c:v>ANN</c:v>
                </c:pt>
                <c:pt idx="4">
                  <c:v>RF★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218.4</c:v>
                </c:pt>
                <c:pt idx="1">
                  <c:v>183.1</c:v>
                </c:pt>
                <c:pt idx="2">
                  <c:v>201.7</c:v>
                </c:pt>
                <c:pt idx="3">
                  <c:v>175.6</c:v>
                </c:pt>
                <c:pt idx="4">
                  <c:v>158.19999999999999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37-6A40-98A5-83BA146979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MSE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</c:v>
                </c:pt>
              </c:strCache>
            </c:strRef>
          </c:tx>
          <c:spPr>
            <a:solidFill>
              <a:srgbClr val="5A7A6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4A9D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7A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SLR</c:v>
                </c:pt>
                <c:pt idx="1">
                  <c:v>MLR</c:v>
                </c:pt>
                <c:pt idx="2">
                  <c:v>DT</c:v>
                </c:pt>
                <c:pt idx="3">
                  <c:v>ANN</c:v>
                </c:pt>
                <c:pt idx="4">
                  <c:v>RF★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74800</c:v>
                </c:pt>
                <c:pt idx="1">
                  <c:v>52400</c:v>
                </c:pt>
                <c:pt idx="2">
                  <c:v>63200</c:v>
                </c:pt>
                <c:pt idx="3">
                  <c:v>48100</c:v>
                </c:pt>
                <c:pt idx="4">
                  <c:v>38100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E2-6E48-B06D-0D480F0EE4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6BDF4-22AD-8740-B3EB-E1EE43795F3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926C0-F1DA-674C-9A3F-2C8646B83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9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6" Type="http://schemas.openxmlformats.org/officeDocument/2006/relationships/chart" Target="../charts/chart4.xml" /><Relationship Id="rId5" Type="http://schemas.openxmlformats.org/officeDocument/2006/relationships/chart" Target="../charts/chart3.xml" /><Relationship Id="rId4" Type="http://schemas.openxmlformats.org/officeDocument/2006/relationships/chart" Target="../charts/char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2E6B4F">
              <a:alpha val="30000"/>
            </a:srgbClr>
          </a:solidFill>
          <a:ln w="12700">
            <a:solidFill>
              <a:srgbClr val="2E6B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2743200" cy="2743200"/>
          </a:xfrm>
          <a:prstGeom prst="ellipse">
            <a:avLst/>
          </a:prstGeom>
          <a:solidFill>
            <a:srgbClr val="5BAD72">
              <a:alpha val="20000"/>
            </a:srgbClr>
          </a:solidFill>
          <a:ln w="12700">
            <a:solidFill>
              <a:srgbClr val="5BAD7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AD72"/>
                </a:solidFill>
              </a:rPr>
              <a:t>Machine Learning Based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3800" b="1" dirty="0">
                <a:solidFill>
                  <a:srgbClr val="FFFFFF"/>
                </a:solidFill>
              </a:rPr>
              <a:t> Coconut </a:t>
            </a:r>
            <a:r>
              <a:rPr lang="en-US" sz="3800" b="1" dirty="0">
                <a:solidFill>
                  <a:srgbClr val="FFFFFF"/>
                </a:solidFill>
              </a:rPr>
              <a:t>Crop Yield Prediction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EDD9"/>
                </a:solidFill>
              </a:rPr>
              <a:t>using Agricultural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2004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99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FAC"/>
                </a:solidFill>
              </a:rPr>
              <a:t>Course: BSc (Hons)</a:t>
            </a:r>
            <a:r>
              <a:rPr lang="en-US" sz="1000" dirty="0" err="1">
                <a:solidFill>
                  <a:srgbClr val="9ABFAC"/>
                </a:solidFill>
              </a:rPr>
              <a:t>agri</a:t>
            </a:r>
            <a:r>
              <a:rPr lang="en-US" sz="1000" dirty="0">
                <a:solidFill>
                  <a:srgbClr val="9ABFAC"/>
                </a:solidFill>
              </a:rPr>
              <a:t> |  Submitted to: Dr. Sailaja Ma'am  |  Group 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DAAFE14-2844-F10E-F46B-C10C572F93F2}"/>
              </a:ext>
            </a:extLst>
          </p:cNvPr>
          <p:cNvSpPr/>
          <p:nvPr/>
        </p:nvSpPr>
        <p:spPr>
          <a:xfrm>
            <a:off x="1828800" y="1039121"/>
            <a:ext cx="7315200" cy="363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2A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05256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05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3232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Introduction &amp; Background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07592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1271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" y="1673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12264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3232" y="2075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" y="24780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Dataset Overview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916936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880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Methodology &amp; Approach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319272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3232" y="32826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Tools &amp; Technologies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21608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Algorithms Used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23944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3232" y="4087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Implementation Pipeline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526280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3232" y="44897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Results &amp; Evaluation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905256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905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10912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Performance Metrics — Charts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1307592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10912" y="1271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Model Comparison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1709928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10912" y="1673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Discussion &amp; Analysis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2112264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10912" y="2075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63440" y="2514600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10912" y="24780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2916936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10912" y="2880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63440" y="3319272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10912" y="32826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References (Part 1)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63440" y="3721608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10912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References (Part 2)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663440" y="4123944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19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10912" y="4087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References (Part 3)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663440" y="4526280"/>
            <a:ext cx="274320" cy="27432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10912" y="44897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Thank You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Background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" cy="7132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97864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2A"/>
                </a:solidFill>
              </a:rPr>
              <a:t>Global agriculture faces massive pressure — population projected to hit 10B by 2050; food production must increase 70% (FAO).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11680"/>
            <a:ext cx="54864" cy="7132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066544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2A"/>
                </a:solidFill>
              </a:rPr>
              <a:t>Traditional yield estimation relies on farmer intuition — inaccurate in the face of climate change and unpredictable weather.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4864" cy="7132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935224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2A"/>
                </a:solidFill>
              </a:rPr>
              <a:t>Machine Learning enables data-driven prediction by learning patterns from historical environmental &amp; agronomic data.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49040"/>
            <a:ext cx="54864" cy="7132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803904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2A"/>
                </a:solidFill>
              </a:rPr>
              <a:t>This project applies &amp; compares 5 ML regression algorithms on a multi-season agricultural dataset to predict crop yield.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5603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Core Challenge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371600"/>
          </a:xfrm>
          <a:prstGeom prst="rect">
            <a:avLst/>
          </a:prstGeom>
          <a:solidFill>
            <a:srgbClr val="2E6B4F">
              <a:alpha val="70000"/>
            </a:srgbClr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Inaccurate Crop Yield Estimation: Farmers and agricultural agencies lack reliable tools for forecasting crop yields in advance. Yield depends on a multitude of interacting variables — rainfall, temperature, humidity, and crop variety — that are difficult to model with traditional statistical methods.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606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Complex multi-variable dependencies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Rainfall, temperature, humidity, &amp; crop type all interact non-linearly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429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Data heterogeneity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Missing values, inconsistent column formats, diverse growing seasons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03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606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No unified ML benchmark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Lack of systematic comparison of regression algorithms on the same dataset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3832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429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Accessibility gap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Predictive tools are not accessible to non-technical farmers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MOTIVATION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Why This Research Matters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838"/>
                </a:solidFill>
              </a:rPr>
              <a:t>20–30%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A"/>
                </a:solidFill>
              </a:rPr>
              <a:t>of India's crop production lost to suboptimal farming decisions &amp; climate shocks annually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09728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143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6B4F"/>
                </a:solidFill>
              </a:rPr>
              <a:t>$1 Trillion+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0" y="17190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A"/>
                </a:solidFill>
              </a:rPr>
              <a:t>economic value of global agriculture industry at risk from climate-driven yield variability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57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Early yield forecasts empower farmers to optimize sowing, irrigation, and harvesting schedules.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457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71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ML models trained on historical data can generalize to new climate scenarios, unlike rule-based systems.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457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64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An accessible Streamlit web app bridges the technology gap for non-technical agricultural stakeholders.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457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58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</a:rPr>
              <a:t>Benchmark comparison of 5 algorithms provides actionable guidance on the best model for deployment.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2618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Develop &amp; Compare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6A"/>
                </a:solidFill>
              </a:rPr>
              <a:t>Implement 5 regression algorithms: Simple Linear Regression, Multiple Linear Regression, Random Forest, Decision Tree &amp; ANN Regressor.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9077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Preprocess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6A"/>
                </a:solidFill>
              </a:rPr>
              <a:t>Handle missing values, apply StandardScaler feature scaling, and One-Hot Encode categorical crop variables.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261872"/>
            <a:ext cx="457200" cy="457200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2618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Evaluate Performance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7373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6A"/>
                </a:solidFill>
              </a:rPr>
              <a:t>Measure R², MSE, RMSE &amp; MAE for all models and identify the best-performing algorithm (Random Forest).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07792"/>
            <a:ext cx="457200" cy="457200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9077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Deploy Application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6A"/>
                </a:solidFill>
              </a:rPr>
              <a:t>Build &amp; deploy an interactive Streamlit web app for real-time crop yield prediction accessible to non-technical users.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486C8D-CD30-8218-97D7-6531BFA29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381"/>
            <a:ext cx="9143999" cy="508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4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Dataset Description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A6A"/>
                </a:solidFill>
              </a:rPr>
              <a:t>Source: cleaned_data_season_v2.xlsx  |  Split: 80% Train / 20% Test  |  Task: Regression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34747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389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1389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13898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719072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73736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Rainfall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64792" y="173736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Numeric (Input)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50792" y="173736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mm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36792" y="17373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Annual rainfall for the growing season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57984"/>
            <a:ext cx="8503920" cy="420624"/>
          </a:xfrm>
          <a:prstGeom prst="rect">
            <a:avLst/>
          </a:prstGeom>
          <a:solidFill>
            <a:srgbClr val="EDF6F0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176272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Temperature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64792" y="2176272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Numeric (Input)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50792" y="2176272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°C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21762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Average seasonal temperature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596896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61518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Humidity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64792" y="2615184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Numeric (Input)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50792" y="2615184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36792" y="26151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Average relative humidity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035808"/>
            <a:ext cx="8503920" cy="420624"/>
          </a:xfrm>
          <a:prstGeom prst="rect">
            <a:avLst/>
          </a:prstGeom>
          <a:solidFill>
            <a:srgbClr val="EDF6F0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054096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Crops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64792" y="3054096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Categorical (In)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50792" y="3054096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305409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Crop type — One-Hot Encoded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47472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49300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Yield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64792" y="349300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Numeric (Target)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50792" y="349300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kg/ha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36792" y="349300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Crop yield (regression target)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Approach &amp;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1252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Data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15727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Load cleaned_data_season_v2.xlsx; normalize column names; inspect shape &amp; types.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2240280"/>
            <a:ext cx="0" cy="109728"/>
          </a:xfrm>
          <a:prstGeom prst="line">
            <a:avLst/>
          </a:prstGeom>
          <a:noFill/>
          <a:ln w="19050">
            <a:solidFill>
              <a:srgbClr val="5BAD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31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2441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27614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Drop NaN rows; apply StandardScaler; One-Hot Encode 'Crops' with pd.get_dummies().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3429000"/>
            <a:ext cx="0" cy="109728"/>
          </a:xfrm>
          <a:prstGeom prst="line">
            <a:avLst/>
          </a:prstGeom>
          <a:noFill/>
          <a:ln w="19050">
            <a:solidFill>
              <a:srgbClr val="5BAD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5204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8408" y="36301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" y="39502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Use Rainfall, Temperature, Humidity + crop dummies as features; Yield as target.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1430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417320"/>
            <a:ext cx="411480" cy="4114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1252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Model 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3248" y="15727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80/20 split; fit 5 regressors with fixed random_state=0 for reproducibility.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331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606040"/>
            <a:ext cx="411480" cy="4114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13248" y="2441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13248" y="27614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Score each model on R², MSE, RMSE, MAE; generate actual-vs-predicted plots.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5204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3794760"/>
            <a:ext cx="411480" cy="4114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13248" y="36301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13248" y="39502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Best model (Random Forest) packaged into Streamlit web app for real-time inference.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5603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TOOLS &amp; TECHNOLOGIES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Technologies Used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4864" cy="74980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Python 3.x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Core language for all ML implementation and data processing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93392"/>
            <a:ext cx="54864" cy="74980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84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scikit-learn 1.3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ML framework — regressors, metrics, preprocessing (StandardScaler)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950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9504"/>
            <a:ext cx="54864" cy="74980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Pandas &amp; NumPy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255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Data manipulation, numerical computing, and DataFrame operations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8561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85616"/>
            <a:ext cx="54864" cy="74980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Matplotlib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1513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Visualization — actual-vs-predicted plots, bar chart comparisons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972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97280"/>
            <a:ext cx="54864" cy="74980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Streamlit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Interactive web app framework for real-time prediction deployment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99339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993392"/>
            <a:ext cx="54864" cy="74980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084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359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Development environment for iterative model training &amp; evaluation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8950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89504"/>
            <a:ext cx="54864" cy="74980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openpyxl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255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Reading .xlsx agricultural dataset files into pandas DataFrames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78561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785616"/>
            <a:ext cx="54864" cy="74980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VS Code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1513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Primary IDE for scripting, debugging, and code organization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Regression Algorithms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1600200" cy="47548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SLR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1645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Simple 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Regression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304288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A6A"/>
                </a:solidFill>
              </a:rPr>
              <a:t>Single feature (Rainfall). Baseline linear fit. Equation: y = β₀ + β₁x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109728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097280"/>
            <a:ext cx="1600200" cy="47548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097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MLR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1645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Multiple 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Regression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304288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A6A"/>
                </a:solidFill>
              </a:rPr>
              <a:t>All 3 features + crop dummies. Captures combined linear effects.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9896" y="109728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1097280"/>
            <a:ext cx="160020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1097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3048" y="1645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Regressor 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13048" y="2304288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A6A"/>
                </a:solidFill>
              </a:rPr>
              <a:t>200 trees, bootstrap sampling, random feature subset. Best performer.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49824" y="109728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9824" y="1097280"/>
            <a:ext cx="1600200" cy="47548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097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22976" y="1645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Decision 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Regressor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22976" y="2304288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A6A"/>
                </a:solidFill>
              </a:rPr>
              <a:t>Recursive binary splits. Interpretable but prone to overfitting.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59752" y="109728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097280"/>
            <a:ext cx="1600200" cy="47548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1097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2904" y="1645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MLP Regressor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</a:rPr>
              <a:t>(ANN)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32904" y="2304288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A6A"/>
                </a:solidFill>
              </a:rPr>
              <a:t>Hidden layers (6,6), ReLU activation, Adam optimizer. 3rd best.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Implementation Flowchart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1993392" cy="274320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97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Import Libraries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(numpy, pandas, sklearn, matplotlib)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21992" y="1691640"/>
            <a:ext cx="201168" cy="0"/>
          </a:xfrm>
          <a:prstGeom prst="line">
            <a:avLst/>
          </a:prstGeom>
          <a:noFill/>
          <a:ln w="25400">
            <a:solidFill>
              <a:srgbClr val="5BAD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09728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097280"/>
            <a:ext cx="1993392" cy="274320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097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14173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Load 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(cleaned_data_season_v2.xlsx)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16552" y="1691640"/>
            <a:ext cx="201168" cy="0"/>
          </a:xfrm>
          <a:prstGeom prst="line">
            <a:avLst/>
          </a:prstGeom>
          <a:noFill/>
          <a:ln w="25400">
            <a:solidFill>
              <a:srgbClr val="5BAD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9728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97280"/>
            <a:ext cx="1993392" cy="274320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97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4173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Preprocess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(dropna, rename, StandardScaler)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1112" y="1691640"/>
            <a:ext cx="201168" cy="0"/>
          </a:xfrm>
          <a:prstGeom prst="line">
            <a:avLst/>
          </a:prstGeom>
          <a:noFill/>
          <a:ln w="25400">
            <a:solidFill>
              <a:srgbClr val="5BAD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09728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097280"/>
            <a:ext cx="1993392" cy="274320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097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3720" y="14173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Feature Engineering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(dummies, train-test split 80:20)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78892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788920"/>
            <a:ext cx="1993392" cy="274320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7889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310896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Train 5 Models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(SLR, MLR, RF, DT, ANN)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21992" y="3383280"/>
            <a:ext cx="201168" cy="0"/>
          </a:xfrm>
          <a:prstGeom prst="line">
            <a:avLst/>
          </a:prstGeom>
          <a:noFill/>
          <a:ln w="25400">
            <a:solidFill>
              <a:srgbClr val="5BAD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278892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23160" y="2788920"/>
            <a:ext cx="1993392" cy="274320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27889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14600" y="310896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Evaluate Metrics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(R², MSE, RMSE, MAE)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16552" y="3383280"/>
            <a:ext cx="201168" cy="0"/>
          </a:xfrm>
          <a:prstGeom prst="line">
            <a:avLst/>
          </a:prstGeom>
          <a:noFill/>
          <a:ln w="25400">
            <a:solidFill>
              <a:srgbClr val="5BAD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78892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788920"/>
            <a:ext cx="1993392" cy="274320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7889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310896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Visualize Results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(actual-vs-predicted plots)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11112" y="3383280"/>
            <a:ext cx="201168" cy="0"/>
          </a:xfrm>
          <a:prstGeom prst="line">
            <a:avLst/>
          </a:prstGeom>
          <a:noFill/>
          <a:ln w="25400">
            <a:solidFill>
              <a:srgbClr val="5BAD7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278892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12280" y="2788920"/>
            <a:ext cx="1993392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27889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03720" y="310896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Deploy Best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</a:rPr>
              <a:t>(Random Forest → Streamlit)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Regression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09728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Algorithm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52344" y="10972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9624" y="109728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12664" y="10972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RMSE (kg/ha)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32904" y="10972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MAE (kg/ha)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426464"/>
            <a:ext cx="8503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453896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Simple Linear Regression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70632" y="145389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0.74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67912" y="145389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74,800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30952" y="145389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273.5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51192" y="1453896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218.4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975104"/>
            <a:ext cx="8503920" cy="521208"/>
          </a:xfrm>
          <a:prstGeom prst="rect">
            <a:avLst/>
          </a:prstGeom>
          <a:solidFill>
            <a:srgbClr val="EDF6F0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002536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Multiple Linear Regression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70632" y="200253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0.88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67912" y="20025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52,400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30952" y="200253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228.9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51192" y="2002536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183.1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523744"/>
            <a:ext cx="8503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551176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Decision Tree Regressor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70632" y="255117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0.82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67912" y="255117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63,200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255117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251.4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51192" y="2551176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201.7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072384"/>
            <a:ext cx="8503920" cy="521208"/>
          </a:xfrm>
          <a:prstGeom prst="rect">
            <a:avLst/>
          </a:prstGeom>
          <a:solidFill>
            <a:srgbClr val="EDF6F0"/>
          </a:solidFill>
          <a:ln w="12700">
            <a:solidFill>
              <a:srgbClr val="D5E9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099816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ANN Regressor (MLP)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70632" y="309981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0.91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67912" y="309981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48,100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30952" y="309981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219.3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51192" y="3099816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175.6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621024"/>
            <a:ext cx="8503920" cy="521208"/>
          </a:xfrm>
          <a:prstGeom prst="rect">
            <a:avLst/>
          </a:prstGeom>
          <a:solidFill>
            <a:srgbClr val="FFF8E7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648456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Random Forest Regressor 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70632" y="364845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0.93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67912" y="364845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38,100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30952" y="3648456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195.3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51192" y="3648456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158.2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37744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PERFORMANCE METRICS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Metric Comparison — Visual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105156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274320" y="3063240"/>
          <a:ext cx="4114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3"/>
          <p:cNvGraphicFramePr/>
          <p:nvPr/>
        </p:nvGraphicFramePr>
        <p:xfrm>
          <a:off x="4754880" y="3063240"/>
          <a:ext cx="4114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1" name="Text 5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19456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Best Model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070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</a:rPr>
              <a:t>🏆  Random Forest Regressor — Best Overall 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6A"/>
                </a:solidFill>
              </a:rPr>
              <a:t>R² = 0.93  |  MSE = 38,100  |  RMSE = 195.3 kg/ha  |  MAE = 158.2 kg/ha  |  200 trees, bootstrap sampling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68880"/>
            <a:ext cx="54864" cy="47548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237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Multiple LR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2542032"/>
            <a:ext cx="822960" cy="29260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542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R²=0.88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52374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6A"/>
                </a:solidFill>
              </a:rPr>
              <a:t>3nd place. Strong linear model, captures multi-feature variance well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54864" cy="47548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723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ANN (MLP)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3090672"/>
            <a:ext cx="822960" cy="29260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30906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R²=0.91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0723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6A"/>
                </a:solidFill>
              </a:rPr>
              <a:t>2nd place. Deep learning competitive — especially on complex patterns.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66160"/>
            <a:ext cx="54864" cy="47548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210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3160" y="3639312"/>
            <a:ext cx="822960" cy="29260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36393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R²=0.82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62102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6A"/>
                </a:solidFill>
              </a:rPr>
              <a:t>4th place. Interpretable but overfits without pruning.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14800"/>
            <a:ext cx="54864" cy="475488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696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Simple LR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23160" y="4187952"/>
            <a:ext cx="822960" cy="29260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41879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R²=0.74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416966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6A"/>
                </a:solidFill>
              </a:rPr>
              <a:t>5th place. Useful baseline; limited to single-feature (Rainfall).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56032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DISCUSSION &amp;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Key Insights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4864" cy="62179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5214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4F"/>
                </a:solidFill>
              </a:rPr>
              <a:t>Why RF Wins: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152144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Ensemble methods use bootstrap aggregation and random feature sub-sampling to reduce variance — superior to single estimators for noisy agricultural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54864" cy="62179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8366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4F"/>
                </a:solidFill>
              </a:rPr>
              <a:t>ANN vs RF: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883664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ANN achieves R²=0.91, close to RF (0.93). However RF trains faster and requires less hyperparameter tuning, making it more practical for deployment.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0320"/>
            <a:ext cx="54864" cy="62179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1518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4F"/>
                </a:solidFill>
              </a:rPr>
              <a:t>Preprocessing Impact: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615184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StandardScaler normalization critically improves ANN convergence. Without scaling, ANN performance drops significantly. MLR and RF are comparatively scale-invariant.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91840"/>
            <a:ext cx="54864" cy="62179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4670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4F"/>
                </a:solidFill>
              </a:rPr>
              <a:t>Feature Importance: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3346704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Rainfall emerges as the dominant predictor (as confirmed by SLR's moderate R²=0.74). Temperature and crop type provide significant additional variance explanation.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02336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023360"/>
            <a:ext cx="54864" cy="62179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782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4F"/>
                </a:solidFill>
              </a:rPr>
              <a:t>Deployment Insight: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4078224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The Streamlit app democratizes access — any farmer can input Rainfall, Temperature, and Humidity to get an instant yield forecast via the trained RF model.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LIMITATIONS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Limitations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320040" cy="320040"/>
          </a:xfrm>
          <a:prstGeom prst="ellipse">
            <a:avLst/>
          </a:prstGeom>
          <a:solidFill>
            <a:srgbClr val="E85555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Dataset Scope: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1430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The dataset may not capture full agro-climatic diversity across all regions — proof-of-concept scale.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10512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47672"/>
            <a:ext cx="320040" cy="320040"/>
          </a:xfrm>
          <a:prstGeom prst="ellipse">
            <a:avLst/>
          </a:prstGeom>
          <a:solidFill>
            <a:srgbClr val="E85555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47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8562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Feature Set: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85623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Only Rainfall, Temperature &amp; Humidity used. Critical factors — soil pH, nitrogen, irrigation — are absent.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23744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60904"/>
            <a:ext cx="320040" cy="320040"/>
          </a:xfrm>
          <a:prstGeom prst="ellipse">
            <a:avLst/>
          </a:prstGeom>
          <a:solidFill>
            <a:srgbClr val="E85555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60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5694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Static Model: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56946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Trained models do not adapt to new data over time. Performance may degrade as climate patterns shift.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236976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374136"/>
            <a:ext cx="320040" cy="320040"/>
          </a:xfrm>
          <a:prstGeom prst="ellipse">
            <a:avLst/>
          </a:prstGeom>
          <a:solidFill>
            <a:srgbClr val="E85555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74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2826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Hyperparameter Search: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28269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Exhaustive Grid Search / Bayesian Optimization not performed — default parameters used.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950208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087368"/>
            <a:ext cx="320040" cy="320040"/>
          </a:xfrm>
          <a:prstGeom prst="ellipse">
            <a:avLst/>
          </a:prstGeom>
          <a:solidFill>
            <a:srgbClr val="E85555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87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3995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</a:rPr>
              <a:t>Interpretability: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9959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A"/>
                </a:solidFill>
              </a:rPr>
              <a:t>Random Forest is a black-box model — less explainable to farmers and agronomists than Decision Tree or SLR.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73736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Future Scope &amp; Directions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Richer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361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Add soil pH, nitrogen, irrigation, and satellite NDVI data to expand predictive power.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7249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Explore LSTM for time-series yield forecasting and CNNs for crop disease detection.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Explainable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91363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Integrate SHAP &amp; LIME to make black-box predictions interpretable for farmers.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4924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IoT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15361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Connect live IoT sensors (soil, weather stations) for real-time, on-the-fly predictions.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4924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AutoML Tuning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7249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Use Optuna/TPOT/H2O AutoML for automated architecture and hyperparameter search.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9240" y="3566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2A"/>
                </a:solidFill>
              </a:rPr>
              <a:t>Multilingual App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91363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6A"/>
                </a:solidFill>
              </a:rPr>
              <a:t>Localize Streamlit app into Hindi, Marathi, Tamil, Telugu for rural accessibility.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Summary &amp;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07008"/>
            <a:ext cx="292608" cy="292608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14300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Successfully designed, implemented &amp; evaluated a comprehensive ML regression pipeline for agricultural yield prediction.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819656"/>
            <a:ext cx="292608" cy="292608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175564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Random Forest Regressor achieves the best performance: R²=0.93, RMSE=195.3 kg/ha — outperforming all other models.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32304"/>
            <a:ext cx="292608" cy="292608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368296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Multiple Linear Regression (R²=0.88) and ANN (R²=0.91) are strong alternatives, offering accuracy–interpretability trade-offs.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35224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44952"/>
            <a:ext cx="292608" cy="292608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298094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StandardScaler and One-Hot Encoding are critical preprocessing steps that significantly improve model convergence.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657600"/>
            <a:ext cx="292608" cy="292608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359359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Deployed Random Forest as an interactive Streamlit web app providing real-time crop yield forecasts for non-technical users.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270248"/>
            <a:ext cx="292608" cy="292608"/>
          </a:xfrm>
          <a:prstGeom prst="ellipse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420624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</a:rPr>
              <a:t>This work demonstrates the real-world viability of ML in precision agriculture and establishes a reproducible benchmark framework.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554480" cy="256032"/>
          </a:xfrm>
          <a:prstGeom prst="rect">
            <a:avLst/>
          </a:prstGeom>
          <a:solidFill>
            <a:srgbClr val="5BAD72"/>
          </a:solidFill>
          <a:ln w="12700">
            <a:solidFill>
              <a:srgbClr val="5BA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2A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[1] Gopal, P.S.M., &amp; Bhargavi, R. (2019). A novel approach for efficient crop yield prediction. Computers and Electronics in Agriculture, 165, 104968.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[2] Ahmad, I., et al. (2021). Machine learning techniques for crop yield prediction using XGBoost and Random Forest. Smart Agricultural Technology, 1, 100010.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[3] Sharma, A., &amp; Singh, R. (2021). Comparative Study of ANN and Linear Regression for Crop Yield Estimation. Int. Journal of Advanced Science and Technology, 30(1), 1–10.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[4] Nevavathi, M., &amp; Bhanu, S.M.A. (2023). Crop Yield Prediction Using CNN-LSTM Hybrid Model. Journal of Agricultural Informatics, 14(2), 45–58.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020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[5] Liakos, K.G., et al. (2018). Machine learning in agriculture: A review. Sensors, 18(8), 2674.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[6] Jeong, J.H., et al. (2022). Deep learning for crop yield prediction: LSTM-based approach. Remote Sensing, 14(3), 619.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[7] Singh, V., &amp; Verma, A. (2022). Gradient Boosting and Random Forest for wheat crop yield in India. Journal of Agricultural Sciences, 12(4), 234–245.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761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[8] Reddy, K.R., &amp; Rao, S.S. (2024). ML Based Crop Recommendation System Using Streamlit. Int. Journal of Innovative Research in Computer Science, 15(3), 112–121.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00837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[9] Gupta, P., Sharma, M., &amp; Jain, R. (2024). Comparative Analysis of MLPRegressor and Linear Regression for Yield Prediction. Journal of Computational Agriculture, 5(1), 45–59.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25526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[10] Kumar, A., &amp; Mishra, D. (2025). Random Forest and ANN Benchmarking for Crop Yield Estimation. Smart Agriculture Technology, 8, 100245.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5021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[11] Meena, R., &amp; Joshi, S. (2026). Privacy-Preserving Federated ML for Distributed Crop Yield Prediction. Computers and Electronics in Agriculture, 210, 107945.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[12] Pedregosa, F., et al. (2011). Scikit-learn: Machine learning in Python. Journal of Machine Learning Research, 12, 2825–2830.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9959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[13] FAO (2024). The State of Food and Agriculture 2024. Food and Agriculture Organization of the United Nations, Rome.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24281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[14] Streamlit Inc. (2024). Streamlit Documentation v1.28. https://docs.streamlit.io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48970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2A"/>
                </a:solidFill>
              </a:rPr>
              <a:t>[15] Scikit-learn developers (2024). User Guide — scikit-learn 1.3.x. https://scikit-learn.org/stable/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E6B4F">
              <a:alpha val="25000"/>
            </a:srgbClr>
          </a:solidFill>
          <a:ln w="12700">
            <a:solidFill>
              <a:srgbClr val="2E6B4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AD72">
              <a:alpha val="20000"/>
            </a:srgbClr>
          </a:solidFill>
          <a:ln w="12700">
            <a:solidFill>
              <a:srgbClr val="5BAD7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BAD72"/>
                </a:solidFill>
              </a:rPr>
              <a:t>for your attention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560320"/>
            <a:ext cx="36576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FD0"/>
                </a:solidFill>
              </a:rPr>
              <a:t>Machine Learning Based Crop Yield Prediction using Agricultural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BFAC"/>
                </a:solidFill>
              </a:rPr>
              <a:t>Group 4  |  B.Tech CSE (AI &amp; ML)  |  Submitted to: Dr. Sailaja Ma'am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E8A838"/>
                </a:solidFill>
              </a:rPr>
              <a:t>Questions &amp; Discussion Welcome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 Based Crop Yield Prediction using Agricultural Data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Based Crop Yield Prediction</dc:title>
  <dc:subject>PptxGenJS Presentation</dc:subject>
  <dc:creator>PptxGenJS</dc:creator>
  <cp:lastModifiedBy>Chinmayee Chinmayee</cp:lastModifiedBy>
  <cp:revision>6</cp:revision>
  <dcterms:created xsi:type="dcterms:W3CDTF">2026-04-14T18:51:53Z</dcterms:created>
  <dcterms:modified xsi:type="dcterms:W3CDTF">2026-04-16T05:57:48Z</dcterms:modified>
</cp:coreProperties>
</file>